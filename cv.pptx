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6046" userDrawn="1">
          <p15:clr>
            <a:srgbClr val="A4A3A4"/>
          </p15:clr>
        </p15:guide>
        <p15:guide id="5" pos="210" userDrawn="1">
          <p15:clr>
            <a:srgbClr val="A4A3A4"/>
          </p15:clr>
        </p15:guide>
        <p15:guide id="7" pos="41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F203"/>
    <a:srgbClr val="F6F6F6"/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84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619" y="-6115"/>
      </p:cViewPr>
      <p:guideLst>
        <p:guide orient="horz" pos="6046"/>
        <p:guide pos="210"/>
        <p:guide pos="41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sk-S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AE6FAA0-70C6-408C-B356-A733AE934964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sk-S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sk-S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A0F65FF-5CB4-4509-9FFD-F3EC04493329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1751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65FF-5CB4-4509-9FFD-F3EC04493329}" type="slidenum">
              <a:rPr lang="sk-SK" smtClean="0"/>
              <a:t>1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63299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65FF-5CB4-4509-9FFD-F3EC04493329}" type="slidenum">
              <a:rPr lang="sk-SK" smtClean="0"/>
              <a:t>2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15703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81717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7448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7389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5633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4670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0938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021659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31164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5991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8006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2678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1B738-FA04-48F9-97F4-8D976BFC6FA2}" type="datetimeFigureOut">
              <a:rPr lang="sk-SK" smtClean="0"/>
              <a:t>26. 5. 2024</a:t>
            </a:fld>
            <a:endParaRPr lang="sk-S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27510-272B-4AB1-9EA6-0C4877EE6CDB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6237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AF6CD0-6DBC-449E-3023-200DF75CF5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457450" cy="20002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86377-987D-8217-2A41-D3D8156114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000250"/>
            <a:ext cx="2457450" cy="790575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ADD69-468B-DA2E-3E42-0B72D20AFE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47010" y="396240"/>
            <a:ext cx="4110990" cy="1188720"/>
          </a:xfrm>
          <a:prstGeom prst="rect">
            <a:avLst/>
          </a:prstGeom>
          <a:noFill/>
          <a:ln>
            <a:noFill/>
          </a:ln>
          <a:effectLst>
            <a:softEdge rad="12700"/>
          </a:effectLst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ts val="4200"/>
              </a:lnSpc>
            </a:pPr>
            <a:r>
              <a:rPr lang="sk-SK" sz="4600" b="1" spc="-400" dirty="0">
                <a:latin typeface="DM Sans 14pt ExtraBold" pitchFamily="2" charset="0"/>
              </a:rPr>
              <a:t>Marian</a:t>
            </a:r>
          </a:p>
          <a:p>
            <a:pPr>
              <a:lnSpc>
                <a:spcPts val="4200"/>
              </a:lnSpc>
            </a:pPr>
            <a:r>
              <a:rPr lang="sk-SK" sz="4600" b="1" spc="-400" dirty="0">
                <a:latin typeface="DM Sans 14pt ExtraBold" pitchFamily="2" charset="0"/>
              </a:rPr>
              <a:t>Bodnar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7EB4BD-7EE4-3C58-9126-0F8DF1767E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67325"/>
            <a:ext cx="245745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kern="0" spc="-1000" dirty="0">
                <a:solidFill>
                  <a:schemeClr val="bg1"/>
                </a:solidFill>
                <a:latin typeface="DM Sans 14pt ExtraBold" pitchFamily="2" charset="0"/>
              </a:rPr>
              <a:t>b</a:t>
            </a:r>
            <a:r>
              <a:rPr lang="en-US" sz="8800" b="1" kern="0" spc="-600" dirty="0">
                <a:solidFill>
                  <a:schemeClr val="bg1"/>
                </a:solidFill>
                <a:latin typeface="DM Sans 14pt ExtraBold" pitchFamily="2" charset="0"/>
              </a:rPr>
              <a:t>m</a:t>
            </a:r>
            <a:r>
              <a:rPr lang="en-US" b="1" spc="-300" dirty="0">
                <a:solidFill>
                  <a:srgbClr val="C0F203"/>
                </a:solidFill>
                <a:latin typeface="DM Sans 14pt ExtraBold" pitchFamily="2" charset="0"/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9C015-0F4F-831E-EFF2-F0C3AB7B68E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81300" y="1814899"/>
            <a:ext cx="3743324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dirty="0">
                <a:latin typeface="DM Sans 14pt Light" pitchFamily="2" charset="0"/>
              </a:rPr>
              <a:t>SMART Measurement Specialist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23268-2E2A-64ED-90BF-CDB7D14327DB}"/>
              </a:ext>
            </a:extLst>
          </p:cNvPr>
          <p:cNvSpPr/>
          <p:nvPr/>
        </p:nvSpPr>
        <p:spPr>
          <a:xfrm>
            <a:off x="2747010" y="2540000"/>
            <a:ext cx="72390" cy="828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5E020-044B-AF0B-84C8-2B3CDDF65C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68637" y="2539999"/>
            <a:ext cx="3223259" cy="828675"/>
          </a:xfrm>
          <a:prstGeom prst="rect">
            <a:avLst/>
          </a:prstGeom>
          <a:noFill/>
        </p:spPr>
        <p:txBody>
          <a:bodyPr wrap="square" lIns="0" tIns="0" rIns="0" bIns="36000" rtlCol="0" anchor="ctr">
            <a:noAutofit/>
          </a:bodyPr>
          <a:lstStyle/>
          <a:p>
            <a:pPr>
              <a:lnSpc>
                <a:spcPts val="1700"/>
              </a:lnSpc>
            </a:pPr>
            <a:r>
              <a:rPr lang="sk-SK" sz="1100" b="1" dirty="0">
                <a:latin typeface="Rubik SemiBold" pitchFamily="2" charset="-79"/>
                <a:cs typeface="Rubik SemiBold" pitchFamily="2" charset="-79"/>
              </a:rPr>
              <a:t>bodnar.marian@gmail.com</a:t>
            </a:r>
          </a:p>
          <a:p>
            <a:pPr>
              <a:lnSpc>
                <a:spcPts val="1700"/>
              </a:lnSpc>
            </a:pPr>
            <a:r>
              <a:rPr lang="sk-SK" sz="1100" b="1" dirty="0">
                <a:latin typeface="Rubik SemiBold" pitchFamily="2" charset="-79"/>
                <a:cs typeface="Rubik SemiBold" pitchFamily="2" charset="-79"/>
              </a:rPr>
              <a:t>www.bmcode.eu</a:t>
            </a:r>
          </a:p>
          <a:p>
            <a:pPr>
              <a:lnSpc>
                <a:spcPts val="1700"/>
              </a:lnSpc>
            </a:pPr>
            <a:r>
              <a:rPr lang="sk-SK" sz="1100" b="1" dirty="0">
                <a:latin typeface="Rubik SemiBold" pitchFamily="2" charset="-79"/>
                <a:cs typeface="Rubik SemiBold" pitchFamily="2" charset="-79"/>
              </a:rPr>
              <a:t>+421 950 596 214</a:t>
            </a:r>
          </a:p>
          <a:p>
            <a:pPr>
              <a:lnSpc>
                <a:spcPts val="1700"/>
              </a:lnSpc>
            </a:pPr>
            <a:r>
              <a:rPr lang="sk-SK" sz="1100" b="1" dirty="0">
                <a:latin typeface="Rubik SemiBold" pitchFamily="2" charset="-79"/>
                <a:cs typeface="Rubik SemiBold" pitchFamily="2" charset="-79"/>
              </a:rPr>
              <a:t>Bratislava 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4D6F-FBB5-72BC-95AF-D7AFC829DB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375" y="2000250"/>
            <a:ext cx="1853565" cy="77328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000" dirty="0">
                <a:latin typeface="DM Sans 14pt SemiBold" pitchFamily="2" charset="0"/>
              </a:rPr>
              <a:t>LANGUAGE</a:t>
            </a:r>
            <a:endParaRPr lang="en-US" sz="800" dirty="0">
              <a:latin typeface="Rubik SemiBold" pitchFamily="2" charset="-79"/>
              <a:cs typeface="Rubik SemiBold" pitchFamily="2" charset="-79"/>
            </a:endParaRPr>
          </a:p>
          <a:p>
            <a:r>
              <a:rPr lang="en-US" sz="1100" dirty="0">
                <a:latin typeface="Rubik" pitchFamily="2" charset="-79"/>
                <a:cs typeface="Rubik" pitchFamily="2" charset="-79"/>
              </a:rPr>
              <a:t>SLOVAK – </a:t>
            </a:r>
            <a:r>
              <a:rPr lang="en-US" sz="1100" i="1" dirty="0">
                <a:latin typeface="Rubik Light" pitchFamily="2" charset="-79"/>
                <a:cs typeface="Rubik Light" pitchFamily="2" charset="-79"/>
              </a:rPr>
              <a:t>NATIVE</a:t>
            </a:r>
          </a:p>
          <a:p>
            <a:r>
              <a:rPr lang="en-US" sz="1100" dirty="0">
                <a:latin typeface="Rubik" pitchFamily="2" charset="-79"/>
                <a:cs typeface="Rubik" pitchFamily="2" charset="-79"/>
              </a:rPr>
              <a:t>ENGLISH – </a:t>
            </a:r>
            <a:r>
              <a:rPr lang="en-US" sz="1100" i="1" dirty="0">
                <a:latin typeface="Rubik Light" pitchFamily="2" charset="-79"/>
                <a:cs typeface="Rubik Light" pitchFamily="2" charset="-79"/>
              </a:rPr>
              <a:t>B2</a:t>
            </a:r>
            <a:endParaRPr lang="en-US" sz="1100" dirty="0">
              <a:latin typeface="Rubik" pitchFamily="2" charset="-79"/>
              <a:cs typeface="Rubik" pitchFamily="2" charset="-79"/>
            </a:endParaRPr>
          </a:p>
          <a:p>
            <a:pPr>
              <a:lnSpc>
                <a:spcPct val="250000"/>
              </a:lnSpc>
            </a:pPr>
            <a:r>
              <a:rPr lang="en-US" sz="2000" dirty="0">
                <a:latin typeface="DM Sans 14pt SemiBold" pitchFamily="2" charset="0"/>
              </a:rPr>
              <a:t>EDUCATION</a:t>
            </a:r>
            <a:endParaRPr lang="en-US" sz="800" dirty="0">
              <a:latin typeface="DM Sans 14pt SemiBold" pitchFamily="2" charset="0"/>
            </a:endParaRPr>
          </a:p>
          <a:p>
            <a:r>
              <a:rPr lang="en-US" sz="1100" dirty="0">
                <a:latin typeface="Rubik SemiBold" pitchFamily="2" charset="-79"/>
                <a:cs typeface="Rubik SemiBold" pitchFamily="2" charset="-79"/>
              </a:rPr>
              <a:t>Secondary School, </a:t>
            </a:r>
            <a:endParaRPr lang="sk-SK" sz="1100" dirty="0">
              <a:latin typeface="Rubik SemiBold" pitchFamily="2" charset="-79"/>
              <a:cs typeface="Rubik SemiBold" pitchFamily="2" charset="-79"/>
            </a:endParaRPr>
          </a:p>
          <a:p>
            <a:r>
              <a:rPr lang="en-US" sz="1100" dirty="0">
                <a:latin typeface="Rubik SemiBold" pitchFamily="2" charset="-79"/>
                <a:cs typeface="Rubik SemiBold" pitchFamily="2" charset="-79"/>
              </a:rPr>
              <a:t>Tisovec</a:t>
            </a:r>
          </a:p>
          <a:p>
            <a:r>
              <a:rPr lang="en-US" sz="1100" i="1" dirty="0">
                <a:latin typeface="Rubik" pitchFamily="2" charset="-79"/>
                <a:cs typeface="Rubik" pitchFamily="2" charset="-79"/>
              </a:rPr>
              <a:t>Electrical Engineering</a:t>
            </a:r>
          </a:p>
          <a:p>
            <a:r>
              <a:rPr lang="en-US" sz="1000" dirty="0">
                <a:latin typeface="Rubik Light" pitchFamily="2" charset="-79"/>
                <a:cs typeface="Rubik Light" pitchFamily="2" charset="-79"/>
              </a:rPr>
              <a:t>2006 – 2010</a:t>
            </a:r>
          </a:p>
          <a:p>
            <a:endParaRPr lang="en-US" sz="1100" dirty="0">
              <a:latin typeface="Rubik" pitchFamily="2" charset="-79"/>
              <a:cs typeface="Rubik" pitchFamily="2" charset="-79"/>
            </a:endParaRPr>
          </a:p>
          <a:p>
            <a:r>
              <a:rPr lang="en-US" sz="1100" dirty="0">
                <a:latin typeface="Rubik SemiBold" pitchFamily="2" charset="-79"/>
                <a:cs typeface="Rubik SemiBold" pitchFamily="2" charset="-79"/>
              </a:rPr>
              <a:t>Paneuropean High School, Bratislava</a:t>
            </a:r>
          </a:p>
          <a:p>
            <a:r>
              <a:rPr lang="en-US" sz="1100" i="1" dirty="0">
                <a:latin typeface="Rubik" pitchFamily="2" charset="-79"/>
                <a:cs typeface="Rubik" pitchFamily="2" charset="-79"/>
              </a:rPr>
              <a:t>Applied Informatics for Industry 4.0</a:t>
            </a:r>
          </a:p>
          <a:p>
            <a:r>
              <a:rPr lang="en-US" sz="1000" dirty="0">
                <a:latin typeface="Rubik Light" pitchFamily="2" charset="-79"/>
                <a:cs typeface="Rubik Light" pitchFamily="2" charset="-79"/>
              </a:rPr>
              <a:t>2021 – Present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DM Sans 14pt SemiBold" pitchFamily="2" charset="0"/>
                <a:cs typeface="Rubik" pitchFamily="2" charset="-79"/>
              </a:rPr>
              <a:t>CERTIFICATES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Modern React with Redux [2024 Update]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Azure Databricks &amp; Spark For Data Engineers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Blue Prism Foundation Course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Microsoft Power BI: Smart Data Visualization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Intermediate to Advanced Python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Data Analysis with Pandas and Python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Python for Data Science and Machine Learning Bootcamp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How to Use Power Query in Excel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The Ultimate MySQL Bootcamp: Go from SQL Beginner to Expert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DE568-AD73-8910-ECA9-103BBDAD850B}"/>
              </a:ext>
            </a:extLst>
          </p:cNvPr>
          <p:cNvSpPr txBox="1">
            <a:spLocks/>
          </p:cNvSpPr>
          <p:nvPr/>
        </p:nvSpPr>
        <p:spPr>
          <a:xfrm>
            <a:off x="2781300" y="3678275"/>
            <a:ext cx="3743325" cy="58939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DM Sans 14pt SemiBold" pitchFamily="2" charset="0"/>
              </a:rPr>
              <a:t>EXPERIENCE</a:t>
            </a:r>
            <a:endParaRPr lang="en-US" sz="800" dirty="0">
              <a:latin typeface="DM Sans 14pt SemiBold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latin typeface="Rubik" pitchFamily="2" charset="-79"/>
                <a:cs typeface="Rubik" pitchFamily="2" charset="-79"/>
              </a:rPr>
              <a:t>SMART Measurement Specialist</a:t>
            </a:r>
          </a:p>
          <a:p>
            <a:r>
              <a:rPr lang="en-US" sz="1100" i="1" dirty="0">
                <a:latin typeface="Rubik" pitchFamily="2" charset="-79"/>
                <a:cs typeface="Rubik" pitchFamily="2" charset="-79"/>
              </a:rPr>
              <a:t>Západoslovenská distribučná, a.s. - ZSE Group, Bratislava, Slovakia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latin typeface="Rubik Light" pitchFamily="2" charset="-79"/>
                <a:cs typeface="Rubik Light" pitchFamily="2" charset="-79"/>
              </a:rPr>
              <a:t>2023 – Present</a:t>
            </a:r>
          </a:p>
          <a:p>
            <a:endParaRPr lang="en-US" sz="1100" i="1" dirty="0"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Develop work procedures and methodologies</a:t>
            </a:r>
            <a:endParaRPr lang="sk-SK" sz="1100" dirty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Manage, update, and correct system data</a:t>
            </a:r>
            <a:endParaRPr lang="sk-SK" sz="1100" dirty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Develop and manage automation and robotic tools (MS Power Automate</a:t>
            </a: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 / Blue Prism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)</a:t>
            </a:r>
            <a:endParaRPr lang="sk-SK" sz="1100" dirty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Create complex data sets, statistics, and reports</a:t>
            </a:r>
            <a:endParaRPr lang="sk-SK" sz="1100" dirty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Conduct data analysis for business purposes (Python, PowerBi</a:t>
            </a: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, SQL, PySpark, Jupyter</a:t>
            </a: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)</a:t>
            </a:r>
            <a:endParaRPr lang="sk-SK" sz="1100" dirty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Coordinate activities as a team leader</a:t>
            </a:r>
            <a:endParaRPr lang="sk-SK" sz="1100" dirty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Actively participate in projects</a:t>
            </a:r>
            <a:endParaRPr lang="sk-SK" sz="1100" dirty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Perform as a key user in assigned IT systems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Rubik" pitchFamily="2" charset="-79"/>
              <a:cs typeface="Rubik" pitchFamily="2" charset="-79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SMART Measurement Technician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Západoslovenská distribučná, a.s. - ZSE Group, Bratislava, Slovakia</a:t>
            </a:r>
          </a:p>
          <a:p>
            <a:pPr>
              <a:lnSpc>
                <a:spcPct val="150000"/>
              </a:lnSpc>
              <a:defRPr/>
            </a:pPr>
            <a:r>
              <a:rPr lang="en-US" sz="1000" dirty="0">
                <a:latin typeface="Rubik Light" pitchFamily="2" charset="-79"/>
                <a:cs typeface="Rubik Light" pitchFamily="2" charset="-79"/>
              </a:rPr>
              <a:t>2022 – 2023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bik" pitchFamily="2" charset="-79"/>
              <a:ea typeface="+mn-ea"/>
              <a:cs typeface="Rubik" pitchFamily="2" charset="-79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Manage and edit data of data in SAP system, ISU/DM, and EDM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Create and specify statistical reports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Manage team IT systems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Prepare and update work procedures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Automate processes with MS Power Automate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Develop business applications in MS Power Apps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Process and visualize data using Python, SQL, and PowerBi</a:t>
            </a:r>
            <a:endParaRPr lang="en-US" sz="1100" dirty="0"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4803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AF6CD0-6DBC-449E-3023-200DF75CF5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457450" cy="200025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86377-987D-8217-2A41-D3D8156114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000250"/>
            <a:ext cx="2457450" cy="790575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ADD69-468B-DA2E-3E42-0B72D20AFE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47010" y="396240"/>
            <a:ext cx="4110990" cy="1188720"/>
          </a:xfrm>
          <a:prstGeom prst="rect">
            <a:avLst/>
          </a:prstGeom>
          <a:noFill/>
          <a:ln>
            <a:noFill/>
          </a:ln>
          <a:effectLst>
            <a:softEdge rad="12700"/>
          </a:effectLst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ts val="4200"/>
              </a:lnSpc>
            </a:pPr>
            <a:r>
              <a:rPr lang="sk-SK" sz="4600" b="1" spc="-400" dirty="0">
                <a:latin typeface="DM Sans 14pt ExtraBold" pitchFamily="2" charset="0"/>
              </a:rPr>
              <a:t>Marián</a:t>
            </a:r>
          </a:p>
          <a:p>
            <a:pPr>
              <a:lnSpc>
                <a:spcPts val="4200"/>
              </a:lnSpc>
            </a:pPr>
            <a:r>
              <a:rPr lang="sk-SK" sz="4600" b="1" spc="-400" dirty="0">
                <a:latin typeface="DM Sans 14pt ExtraBold" pitchFamily="2" charset="0"/>
              </a:rPr>
              <a:t>Bodnár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7EB4BD-7EE4-3C58-9126-0F8DF1767E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67325"/>
            <a:ext cx="245745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b="1" kern="0" spc="-1000" dirty="0">
                <a:solidFill>
                  <a:schemeClr val="bg1"/>
                </a:solidFill>
                <a:latin typeface="DM Sans 14pt ExtraBold" pitchFamily="2" charset="0"/>
              </a:rPr>
              <a:t>b</a:t>
            </a:r>
            <a:r>
              <a:rPr lang="en-US" sz="8800" b="1" kern="0" spc="-600" dirty="0">
                <a:solidFill>
                  <a:schemeClr val="bg1"/>
                </a:solidFill>
                <a:latin typeface="DM Sans 14pt ExtraBold" pitchFamily="2" charset="0"/>
              </a:rPr>
              <a:t>m</a:t>
            </a:r>
            <a:r>
              <a:rPr lang="en-US" b="1" spc="-300" dirty="0">
                <a:solidFill>
                  <a:srgbClr val="C0F203"/>
                </a:solidFill>
                <a:latin typeface="DM Sans 14pt ExtraBold" pitchFamily="2" charset="0"/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9C015-0F4F-831E-EFF2-F0C3AB7B68E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81300" y="1814899"/>
            <a:ext cx="3743324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sk-SK" dirty="0">
                <a:latin typeface="DM Sans 14pt Light" pitchFamily="2" charset="0"/>
              </a:rPr>
              <a:t>Špecialista SMART merania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23268-2E2A-64ED-90BF-CDB7D14327DB}"/>
              </a:ext>
            </a:extLst>
          </p:cNvPr>
          <p:cNvSpPr/>
          <p:nvPr/>
        </p:nvSpPr>
        <p:spPr>
          <a:xfrm>
            <a:off x="2747010" y="2540000"/>
            <a:ext cx="72390" cy="828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5E020-044B-AF0B-84C8-2B3CDDF65C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68637" y="2539999"/>
            <a:ext cx="3223259" cy="828675"/>
          </a:xfrm>
          <a:prstGeom prst="rect">
            <a:avLst/>
          </a:prstGeom>
          <a:noFill/>
        </p:spPr>
        <p:txBody>
          <a:bodyPr wrap="square" lIns="0" tIns="0" rIns="0" bIns="36000" rtlCol="0" anchor="ctr">
            <a:noAutofit/>
          </a:bodyPr>
          <a:lstStyle/>
          <a:p>
            <a:pPr>
              <a:lnSpc>
                <a:spcPts val="1700"/>
              </a:lnSpc>
            </a:pPr>
            <a:r>
              <a:rPr lang="sk-SK" sz="1100" b="1" dirty="0">
                <a:latin typeface="Rubik SemiBold" pitchFamily="2" charset="-79"/>
                <a:cs typeface="Rubik SemiBold" pitchFamily="2" charset="-79"/>
              </a:rPr>
              <a:t>bodnar.marian@gmail.com</a:t>
            </a:r>
          </a:p>
          <a:p>
            <a:pPr>
              <a:lnSpc>
                <a:spcPts val="1700"/>
              </a:lnSpc>
            </a:pPr>
            <a:r>
              <a:rPr lang="sk-SK" sz="1100" b="1" dirty="0">
                <a:latin typeface="Rubik SemiBold" pitchFamily="2" charset="-79"/>
                <a:cs typeface="Rubik SemiBold" pitchFamily="2" charset="-79"/>
              </a:rPr>
              <a:t>www.bmcode.eu</a:t>
            </a:r>
          </a:p>
          <a:p>
            <a:pPr>
              <a:lnSpc>
                <a:spcPts val="1700"/>
              </a:lnSpc>
            </a:pPr>
            <a:r>
              <a:rPr lang="sk-SK" sz="1100" b="1" dirty="0">
                <a:latin typeface="Rubik SemiBold" pitchFamily="2" charset="-79"/>
                <a:cs typeface="Rubik SemiBold" pitchFamily="2" charset="-79"/>
              </a:rPr>
              <a:t>+421 950 596 214</a:t>
            </a:r>
          </a:p>
          <a:p>
            <a:pPr>
              <a:lnSpc>
                <a:spcPts val="1700"/>
              </a:lnSpc>
            </a:pPr>
            <a:r>
              <a:rPr lang="sk-SK" sz="1100" b="1" dirty="0">
                <a:latin typeface="Rubik SemiBold" pitchFamily="2" charset="-79"/>
                <a:cs typeface="Rubik SemiBold" pitchFamily="2" charset="-79"/>
              </a:rPr>
              <a:t>Bratislava 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4D6F-FBB5-72BC-95AF-D7AFC829DB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375" y="2000250"/>
            <a:ext cx="1853565" cy="77328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50000"/>
              </a:lnSpc>
            </a:pPr>
            <a:r>
              <a:rPr lang="sk-SK" sz="2000" dirty="0">
                <a:latin typeface="DM Sans 14pt SemiBold" pitchFamily="2" charset="0"/>
              </a:rPr>
              <a:t>JAZYK</a:t>
            </a:r>
            <a:endParaRPr lang="sk-SK" sz="800" dirty="0">
              <a:latin typeface="Rubik SemiBold" pitchFamily="2" charset="-79"/>
              <a:cs typeface="Rubik SemiBold" pitchFamily="2" charset="-79"/>
            </a:endParaRPr>
          </a:p>
          <a:p>
            <a:r>
              <a:rPr lang="sk-SK" sz="1100" dirty="0">
                <a:latin typeface="Rubik" pitchFamily="2" charset="-79"/>
                <a:cs typeface="Rubik" pitchFamily="2" charset="-79"/>
              </a:rPr>
              <a:t>SLOVENSKÝ – </a:t>
            </a:r>
            <a:r>
              <a:rPr lang="sk-SK" sz="1100" i="1" dirty="0">
                <a:latin typeface="Rubik Light" pitchFamily="2" charset="-79"/>
                <a:cs typeface="Rubik Light" pitchFamily="2" charset="-79"/>
              </a:rPr>
              <a:t>NATÍVNY</a:t>
            </a:r>
          </a:p>
          <a:p>
            <a:r>
              <a:rPr lang="sk-SK" sz="1100" dirty="0">
                <a:latin typeface="Rubik" pitchFamily="2" charset="-79"/>
                <a:cs typeface="Rubik" pitchFamily="2" charset="-79"/>
              </a:rPr>
              <a:t>ANGLICKÝ – </a:t>
            </a:r>
            <a:r>
              <a:rPr lang="sk-SK" sz="1100" i="1" dirty="0">
                <a:latin typeface="Rubik Light" pitchFamily="2" charset="-79"/>
                <a:cs typeface="Rubik Light" pitchFamily="2" charset="-79"/>
              </a:rPr>
              <a:t>B2</a:t>
            </a:r>
            <a:endParaRPr lang="sk-SK" sz="1100" dirty="0">
              <a:latin typeface="Rubik" pitchFamily="2" charset="-79"/>
              <a:cs typeface="Rubik" pitchFamily="2" charset="-79"/>
            </a:endParaRPr>
          </a:p>
          <a:p>
            <a:pPr>
              <a:lnSpc>
                <a:spcPct val="250000"/>
              </a:lnSpc>
            </a:pPr>
            <a:r>
              <a:rPr lang="sk-SK" sz="2000" dirty="0">
                <a:latin typeface="DM Sans 14pt SemiBold" pitchFamily="2" charset="0"/>
              </a:rPr>
              <a:t>VZDELANIE</a:t>
            </a:r>
            <a:endParaRPr lang="sk-SK" sz="800" dirty="0">
              <a:latin typeface="DM Sans 14pt SemiBold" pitchFamily="2" charset="0"/>
            </a:endParaRPr>
          </a:p>
          <a:p>
            <a:r>
              <a:rPr lang="sk-SK" sz="1100" dirty="0">
                <a:latin typeface="Rubik SemiBold" pitchFamily="2" charset="-79"/>
                <a:cs typeface="Rubik SemiBold" pitchFamily="2" charset="-79"/>
              </a:rPr>
              <a:t>Stredná odborná škola, Tisovec</a:t>
            </a:r>
          </a:p>
          <a:p>
            <a:r>
              <a:rPr lang="sk-SK" sz="1100" i="1" dirty="0">
                <a:latin typeface="Rubik" pitchFamily="2" charset="-79"/>
                <a:cs typeface="Rubik" pitchFamily="2" charset="-79"/>
              </a:rPr>
              <a:t>Elektrotechnika</a:t>
            </a:r>
          </a:p>
          <a:p>
            <a:r>
              <a:rPr lang="sk-SK" sz="1000" dirty="0">
                <a:latin typeface="Rubik Light" pitchFamily="2" charset="-79"/>
                <a:cs typeface="Rubik Light" pitchFamily="2" charset="-79"/>
              </a:rPr>
              <a:t>2006 – 2010</a:t>
            </a:r>
          </a:p>
          <a:p>
            <a:endParaRPr lang="sk-SK" sz="1100" dirty="0">
              <a:latin typeface="Rubik" pitchFamily="2" charset="-79"/>
              <a:cs typeface="Rubik" pitchFamily="2" charset="-79"/>
            </a:endParaRPr>
          </a:p>
          <a:p>
            <a:r>
              <a:rPr lang="sk-SK" sz="1100" dirty="0">
                <a:latin typeface="Rubik SemiBold" pitchFamily="2" charset="-79"/>
                <a:cs typeface="Rubik SemiBold" pitchFamily="2" charset="-79"/>
              </a:rPr>
              <a:t>Paneurópska vysoká škola, Bratislava</a:t>
            </a:r>
          </a:p>
          <a:p>
            <a:r>
              <a:rPr lang="sk-SK" sz="1100" i="1" dirty="0">
                <a:latin typeface="Rubik" pitchFamily="2" charset="-79"/>
                <a:cs typeface="Rubik" pitchFamily="2" charset="-79"/>
              </a:rPr>
              <a:t>Aplikovaná informatika pre priemysel 4.0</a:t>
            </a:r>
          </a:p>
          <a:p>
            <a:r>
              <a:rPr lang="sk-SK" sz="1000" dirty="0">
                <a:latin typeface="Rubik Light" pitchFamily="2" charset="-79"/>
                <a:cs typeface="Rubik Light" pitchFamily="2" charset="-79"/>
              </a:rPr>
              <a:t>2021 – Aktuálne</a:t>
            </a:r>
          </a:p>
          <a:p>
            <a:pPr>
              <a:lnSpc>
                <a:spcPct val="250000"/>
              </a:lnSpc>
            </a:pPr>
            <a:r>
              <a:rPr lang="sk-SK" sz="2000" dirty="0">
                <a:latin typeface="DM Sans 14pt SemiBold" pitchFamily="2" charset="0"/>
                <a:cs typeface="Rubik" pitchFamily="2" charset="-79"/>
              </a:rPr>
              <a:t>CERTIFIKÁTY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Modern React with Redux [2024 Update]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Azure Databricks &amp; Spark For Data Engineers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Blue Prism Foundation Course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Microsoft Power BI: Smart Data Visualization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Intermediate to Advanced Python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Data Analysis with Pandas and Python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Python for Data Science and Machine Learning Bootcamp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How to Use Power Query in Excel</a:t>
            </a:r>
          </a:p>
          <a:p>
            <a:pPr marL="171450" indent="-171450">
              <a:buSzPct val="110000"/>
              <a:buFont typeface="Arial" panose="020B0604020202020204" pitchFamily="34" charset="0"/>
              <a:buChar char="•"/>
            </a:pPr>
            <a:r>
              <a:rPr lang="en-US" sz="1100" dirty="0">
                <a:latin typeface="Rubik" pitchFamily="2" charset="-79"/>
                <a:cs typeface="Rubik" pitchFamily="2" charset="-79"/>
              </a:rPr>
              <a:t>The Ultimate MySQL Bootcamp: Go from SQL Beginner to Expert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DE568-AD73-8910-ECA9-103BBDAD85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81300" y="3678275"/>
            <a:ext cx="3743325" cy="58939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sk-SK" sz="2200" dirty="0">
                <a:latin typeface="DM Sans 14pt SemiBold" pitchFamily="2" charset="0"/>
              </a:rPr>
              <a:t>SKÚSENOSTI</a:t>
            </a:r>
            <a:endParaRPr lang="sk-SK" sz="800" dirty="0">
              <a:latin typeface="DM Sans 14pt SemiBold" pitchFamily="2" charset="0"/>
            </a:endParaRPr>
          </a:p>
          <a:p>
            <a:pPr>
              <a:lnSpc>
                <a:spcPct val="150000"/>
              </a:lnSpc>
            </a:pPr>
            <a:r>
              <a:rPr lang="sk-SK" sz="1500" dirty="0">
                <a:latin typeface="Rubik" pitchFamily="2" charset="-79"/>
                <a:cs typeface="Rubik" pitchFamily="2" charset="-79"/>
              </a:rPr>
              <a:t>Špecialista SMART merania</a:t>
            </a:r>
          </a:p>
          <a:p>
            <a:r>
              <a:rPr lang="sk-SK" sz="1100" i="1" dirty="0">
                <a:latin typeface="Rubik" pitchFamily="2" charset="-79"/>
                <a:cs typeface="Rubik" pitchFamily="2" charset="-79"/>
              </a:rPr>
              <a:t>Západoslovenská distribučná, a.s. – Skupina ZSE, Bratislava, Slovensko</a:t>
            </a:r>
          </a:p>
          <a:p>
            <a:pPr>
              <a:lnSpc>
                <a:spcPct val="150000"/>
              </a:lnSpc>
            </a:pPr>
            <a:r>
              <a:rPr lang="sk-SK" sz="1000" dirty="0">
                <a:latin typeface="Rubik Light" pitchFamily="2" charset="-79"/>
                <a:cs typeface="Rubik Light" pitchFamily="2" charset="-79"/>
              </a:rPr>
              <a:t>2023 – Aktuálne</a:t>
            </a:r>
          </a:p>
          <a:p>
            <a:endParaRPr lang="sk-SK" sz="1100" i="1" dirty="0">
              <a:latin typeface="Rubik" pitchFamily="2" charset="-79"/>
              <a:cs typeface="Rubik" pitchFamily="2" charset="-79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Vývoj pracovných postupov a metodík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Správa, aktualizácia a oprava dát v systémoch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Vývoj a správa automatizačných a robotických nástrojov (MS  Power Automate / Blue Prism)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Tvorba komplexných dátových súborov a štatistík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Analýza dát pre obchodné účely (Python, PowerBi, SQL, PySpark, Jupyter)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Koordinácia aktivít ako tímový líder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Aktívna účasť na projektoch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Pôsobenie ako kľúčový používateľ v pridelených IT sys.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Technik SMART merania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Západoslovenská distribučná, a.s. - </a:t>
            </a:r>
            <a:r>
              <a:rPr lang="sk-SK" sz="1100" i="1" dirty="0">
                <a:latin typeface="Rubik" pitchFamily="2" charset="-79"/>
                <a:cs typeface="Rubik" pitchFamily="2" charset="-79"/>
              </a:rPr>
              <a:t>Skupina ZSE</a:t>
            </a:r>
            <a:r>
              <a:rPr kumimoji="0" lang="sk-SK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, Bratislava, Slovensko</a:t>
            </a:r>
          </a:p>
          <a:p>
            <a:pPr>
              <a:lnSpc>
                <a:spcPct val="150000"/>
              </a:lnSpc>
              <a:defRPr/>
            </a:pPr>
            <a:r>
              <a:rPr lang="sk-SK" sz="1000" dirty="0">
                <a:latin typeface="Rubik Light" pitchFamily="2" charset="-79"/>
                <a:cs typeface="Rubik Light" pitchFamily="2" charset="-79"/>
              </a:rPr>
              <a:t>2022 – 2023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bik" pitchFamily="2" charset="-79"/>
              <a:ea typeface="+mn-ea"/>
              <a:cs typeface="Rubik" pitchFamily="2" charset="-79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Správa a úprava dát v systémoch SAP, ISU/DM a EDM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Tvorba a špecifikácia štatistických reportov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Správa tímových IT systémov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Príprava a aktualizácia pracovných postupov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Automatizácia procesov pomocou MS Power Automate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Rubik" pitchFamily="2" charset="-79"/>
                <a:ea typeface="+mn-ea"/>
                <a:cs typeface="Rubik" pitchFamily="2" charset="-79"/>
              </a:rPr>
              <a:t>Vývoj biznis aplikácií v MS Power Apps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sk-SK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Rubik" pitchFamily="2" charset="-79"/>
                <a:cs typeface="Rubik" pitchFamily="2" charset="-79"/>
              </a:rPr>
              <a:t>Spracovanie a vizualizácia dát pomocou Python a PowerBi</a:t>
            </a:r>
          </a:p>
        </p:txBody>
      </p:sp>
    </p:spTree>
    <p:extLst>
      <p:ext uri="{BB962C8B-B14F-4D97-AF65-F5344CB8AC3E}">
        <p14:creationId xmlns:p14="http://schemas.microsoft.com/office/powerpoint/2010/main" val="381224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616</TotalTime>
  <Words>563</Words>
  <Application>Microsoft Office PowerPoint</Application>
  <PresentationFormat>A4 Paper (210x297 mm)</PresentationFormat>
  <Paragraphs>109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Aptos Display</vt:lpstr>
      <vt:lpstr>Arial</vt:lpstr>
      <vt:lpstr>DM Sans 14pt ExtraBold</vt:lpstr>
      <vt:lpstr>DM Sans 14pt Light</vt:lpstr>
      <vt:lpstr>DM Sans 14pt SemiBold</vt:lpstr>
      <vt:lpstr>Rubik</vt:lpstr>
      <vt:lpstr>Rubik Light</vt:lpstr>
      <vt:lpstr>Rubik SemiBold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Marián Bodnár</dc:creator>
  <cp:lastModifiedBy>Marián Bodnár</cp:lastModifiedBy>
  <cp:revision>14</cp:revision>
  <cp:lastPrinted>2024-05-26T15:31:33Z</cp:lastPrinted>
  <dcterms:created xsi:type="dcterms:W3CDTF">2024-05-25T16:10:01Z</dcterms:created>
  <dcterms:modified xsi:type="dcterms:W3CDTF">2024-05-26T22:41:20Z</dcterms:modified>
</cp:coreProperties>
</file>